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62" r:id="rId3"/>
    <p:sldId id="257" r:id="rId4"/>
    <p:sldId id="258" r:id="rId5"/>
    <p:sldId id="264" r:id="rId6"/>
    <p:sldId id="266" r:id="rId7"/>
    <p:sldId id="259" r:id="rId8"/>
    <p:sldId id="260" r:id="rId9"/>
    <p:sldId id="269" r:id="rId10"/>
    <p:sldId id="275" r:id="rId11"/>
    <p:sldId id="270" r:id="rId12"/>
    <p:sldId id="274" r:id="rId13"/>
    <p:sldId id="268" r:id="rId14"/>
    <p:sldId id="271" r:id="rId15"/>
    <p:sldId id="273" r:id="rId16"/>
    <p:sldId id="276" r:id="rId17"/>
    <p:sldId id="277" r:id="rId18"/>
    <p:sldId id="278" r:id="rId19"/>
    <p:sldId id="279" r:id="rId20"/>
    <p:sldId id="27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39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6A2B72-69E4-4C8B-ACB4-9FD1EE4ABA45}" type="datetimeFigureOut">
              <a:rPr lang="en-GB" smtClean="0"/>
              <a:t>26/06/2025</a:t>
            </a:fld>
            <a:endParaRPr lang="en-GB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ECA2B3-4606-49CB-A17B-2FCD740B90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6282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04E9ED-26FD-927D-FD0F-CD5C72849D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en-GB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364CD1B-5544-E871-FE62-2FD9ECD445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en-GB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880C8F5-7765-4D46-8E9B-B1592BF6D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87708-771F-4AA6-BFC1-8BC4150D5CCE}" type="datetime1">
              <a:rPr lang="en-GB" smtClean="0"/>
              <a:t>26/06/2025</a:t>
            </a:fld>
            <a:endParaRPr lang="en-GB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03C53E8-EEDA-35F2-3E47-2282A298B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3AD8B66-53A4-75EF-B8FF-923A42C5F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52B6B-8ECC-4EC1-AD09-304F34236D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1424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08A201-E9AA-E216-2C45-C307A7273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946" y="230559"/>
            <a:ext cx="10515600" cy="540039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en-GB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42E3AF-621B-0244-7A78-EA67B5E79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GB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2D504CA-ED94-FB35-F4D7-25602E924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9DC2B-9D61-4637-BA79-0425E9AD6F14}" type="datetime1">
              <a:rPr lang="en-GB" smtClean="0"/>
              <a:t>26/06/2025</a:t>
            </a:fld>
            <a:endParaRPr lang="en-GB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F55B2E-1077-FEC2-8887-5C9AC2026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CFC2358-4CF5-0F81-9F85-57B8732E3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52B6B-8ECC-4EC1-AD09-304F34236D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3678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ABB499-7BC7-5E0E-D8CB-6AA42FF80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en-GB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A6BD310-9CCF-00C2-2769-792C06462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F5C15A4-799B-C76C-60CA-9C9A5C6E8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E6409-17F2-4290-9E22-EDE61433D13D}" type="datetime1">
              <a:rPr lang="en-GB" smtClean="0"/>
              <a:t>26/06/2025</a:t>
            </a:fld>
            <a:endParaRPr lang="en-GB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E0A806-634D-A7E4-CBBD-52AA19527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E6706A1-DCF1-4FBD-D784-4871DCA20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52B6B-8ECC-4EC1-AD09-304F34236D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9024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B9B187-30D4-D4CE-A5E7-9122D91D9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GB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0F3A0B7-BE75-78C0-5175-7A72C114DD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GB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C0077DE-1784-D957-8C82-D9248467A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GB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C28C1A2-C952-1E11-D9EA-357937746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DCD0-8818-4888-8017-273CE2C4F682}" type="datetime1">
              <a:rPr lang="en-GB" smtClean="0"/>
              <a:t>26/06/2025</a:t>
            </a:fld>
            <a:endParaRPr lang="en-GB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903481B-E996-3595-30D9-18406AD6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D95DBB0-8B85-97D4-88C1-984E42819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52B6B-8ECC-4EC1-AD09-304F34236D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4315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5F2297-F36D-6794-F5AF-9D1E0DCC6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en-GB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D139F57-6908-04E5-A983-C8CB970D90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3DD0983-3A3C-C20F-B2DC-9ABB007896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GB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F89809A-74C0-D1A8-E6C7-2C8212135D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338C08F-7D1F-32BC-2D64-D184F35254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GB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E924B29-1782-B152-8C28-55AFD8953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FF004-9FA7-43DF-928E-6FB5273B29D9}" type="datetime1">
              <a:rPr lang="en-GB" smtClean="0"/>
              <a:t>26/06/2025</a:t>
            </a:fld>
            <a:endParaRPr lang="en-GB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D03B210-1A89-46EB-BADA-1B31D68F4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06B3021-4569-846B-F030-310A62527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52B6B-8ECC-4EC1-AD09-304F34236D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7386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354DE1-9F75-93DC-E567-E8488628F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GB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9E6C6E9-8A11-FC5E-5220-6D2DA8F5D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D234D-896D-407E-ACC3-A4284E26BF22}" type="datetime1">
              <a:rPr lang="en-GB" smtClean="0"/>
              <a:t>26/06/2025</a:t>
            </a:fld>
            <a:endParaRPr lang="en-GB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330D128-B026-9E3C-04F8-3308953F3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EC2EA87-EB9F-D573-9342-D5AC53E84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52B6B-8ECC-4EC1-AD09-304F34236D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1576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3EC3807-4CD2-4BFC-AE3D-C933888BC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EF122-7213-4DF1-932F-F485187EDFA3}" type="datetime1">
              <a:rPr lang="en-GB" smtClean="0"/>
              <a:t>26/06/2025</a:t>
            </a:fld>
            <a:endParaRPr lang="en-GB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B712D4A-1D38-035B-B265-93FE8BA6D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38204FE-0245-7DBB-0331-2B2B2F026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52B6B-8ECC-4EC1-AD09-304F34236D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8238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0D8A18-56AE-E03D-5E3D-FA5A15431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en-GB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C6730DB-A36A-9469-1803-942F3F046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GB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118F60F-62B7-33C8-61DA-810662B10C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D21AF7A-F300-B557-C513-3D3FFE526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87927-76DF-46D4-83A2-ADEB0BFE2028}" type="datetime1">
              <a:rPr lang="en-GB" smtClean="0"/>
              <a:t>26/06/2025</a:t>
            </a:fld>
            <a:endParaRPr lang="en-GB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23DAF3C-346C-C431-4954-8EAF8DD7A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F968F46-EDDA-2347-C578-3A9F029BD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52B6B-8ECC-4EC1-AD09-304F34236D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7973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8082ED-E765-6D53-7753-6B9C1D0F7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en-GB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6EA11AA-A1D6-9C0A-23CB-B927AFAF87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A60A005-3DF1-4D95-F39C-516276B282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29D6CD7-1459-459D-4B9F-096F0B786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2DF2F-D4A1-4DAA-A4CC-C184DBDCDFD2}" type="datetime1">
              <a:rPr lang="en-GB" smtClean="0"/>
              <a:t>26/06/2025</a:t>
            </a:fld>
            <a:endParaRPr lang="en-GB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A767992-7F74-D59A-9238-55B0E2633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CD4CDA4-1861-26DD-9B25-ADED67A88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52B6B-8ECC-4EC1-AD09-304F34236D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0297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BB4D27-9499-EF2A-F7F6-12463E809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GB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3569ADF-7094-AC99-A3EB-D097A69D2B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GB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96E3864-C6FB-5ED4-7903-7F3637EC9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D4B42-C528-4EF8-A492-8046F15D7097}" type="datetime1">
              <a:rPr lang="en-GB" smtClean="0"/>
              <a:t>26/06/2025</a:t>
            </a:fld>
            <a:endParaRPr lang="en-GB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C5C280D-7C62-7F10-4507-F00F7340E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6CE0C1C-3E10-E445-6D55-E552FCAC9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52B6B-8ECC-4EC1-AD09-304F34236D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1529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B89EBDA-DE13-5DD8-4062-F480428E63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en-GB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48F1101-ED44-C25B-3FF6-C11ECD8629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GB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D03DA91-3E65-342B-79FC-72731AE88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BFDD8-64F9-4AC1-8C1D-0BF2818B1C3A}" type="datetime1">
              <a:rPr lang="en-GB" smtClean="0"/>
              <a:t>26/06/2025</a:t>
            </a:fld>
            <a:endParaRPr lang="en-GB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9279E70-9FB8-912E-F4BE-847DDB45D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E2C3CDE-DF88-8FE9-2E56-F394DA96D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52B6B-8ECC-4EC1-AD09-304F34236D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6541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E7F6DDE-D848-BF49-9F9E-316F15996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946" y="184379"/>
            <a:ext cx="10515600" cy="5400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03DBE74-0913-6B70-7EB7-4FAFCD72C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946" y="1384515"/>
            <a:ext cx="118156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EA7B731-46BC-3E4B-49F0-4BB668FFEB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33E7B-9CD0-46A3-BE2F-30E82F3A3318}" type="datetime1">
              <a:rPr lang="en-GB" smtClean="0"/>
              <a:t>26/06/2025</a:t>
            </a:fld>
            <a:endParaRPr lang="en-GB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B1E775A-D20F-F46B-B0E7-73291EBA4A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70810FF-7116-E644-68A9-FD8A5CD905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D52B6B-8ECC-4EC1-AD09-304F34236D0B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A0499F85-DF69-1C87-E9D3-9AD21D7124E6}"/>
              </a:ext>
            </a:extLst>
          </p:cNvPr>
          <p:cNvCxnSpPr>
            <a:cxnSpLocks/>
          </p:cNvCxnSpPr>
          <p:nvPr userDrawn="1"/>
        </p:nvCxnSpPr>
        <p:spPr>
          <a:xfrm>
            <a:off x="0" y="977521"/>
            <a:ext cx="12192000" cy="0"/>
          </a:xfrm>
          <a:prstGeom prst="line">
            <a:avLst/>
          </a:prstGeom>
          <a:ln w="38100">
            <a:solidFill>
              <a:srgbClr val="1C39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950626A0-82B3-0F07-FA9A-96AEDD922115}"/>
              </a:ext>
            </a:extLst>
          </p:cNvPr>
          <p:cNvCxnSpPr>
            <a:cxnSpLocks/>
          </p:cNvCxnSpPr>
          <p:nvPr userDrawn="1"/>
        </p:nvCxnSpPr>
        <p:spPr>
          <a:xfrm>
            <a:off x="0" y="6403600"/>
            <a:ext cx="12192000" cy="0"/>
          </a:xfrm>
          <a:prstGeom prst="line">
            <a:avLst/>
          </a:prstGeom>
          <a:ln w="38100">
            <a:solidFill>
              <a:srgbClr val="1C39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圖片 8" descr="一張含有 文字, 美工圖案 的圖片&#10;&#10;自動產生的描述">
            <a:extLst>
              <a:ext uri="{FF2B5EF4-FFF2-40B4-BE49-F238E27FC236}">
                <a16:creationId xmlns:a16="http://schemas.microsoft.com/office/drawing/2014/main" id="{EB4C7053-0FE3-0A33-25E1-23F9C727B41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7494" y="0"/>
            <a:ext cx="2084505" cy="977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644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Microsoft JhengHei Light" panose="020B0304030504040204" pitchFamily="34" charset="-120"/>
          <a:ea typeface="Microsoft JhengHei Light" panose="020B03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icrosoft JhengHei Light" panose="020B0304030504040204" pitchFamily="34" charset="-120"/>
          <a:ea typeface="Microsoft JhengHei Light" panose="020B03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JhengHei Light" panose="020B0304030504040204" pitchFamily="34" charset="-120"/>
          <a:ea typeface="Microsoft JhengHei Light" panose="020B03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JhengHei Light" panose="020B0304030504040204" pitchFamily="34" charset="-120"/>
          <a:ea typeface="Microsoft JhengHei Light" panose="020B03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JhengHei Light" panose="020B0304030504040204" pitchFamily="34" charset="-120"/>
          <a:ea typeface="Microsoft JhengHei Light" panose="020B03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JhengHei Light" panose="020B0304030504040204" pitchFamily="34" charset="-120"/>
          <a:ea typeface="Microsoft JhengHei Light" panose="020B03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eg"/><Relationship Id="rId4" Type="http://schemas.openxmlformats.org/officeDocument/2006/relationships/image" Target="../media/image20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071932-CCA5-A7CC-33C6-1759304E3B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3867" y="1168400"/>
            <a:ext cx="9144000" cy="3692335"/>
          </a:xfrm>
        </p:spPr>
        <p:txBody>
          <a:bodyPr>
            <a:normAutofit/>
          </a:bodyPr>
          <a:lstStyle/>
          <a:p>
            <a:r>
              <a:rPr lang="en-US" sz="4800" dirty="0"/>
              <a:t>Business Model – AI company</a:t>
            </a:r>
            <a:br>
              <a:rPr lang="en-US" sz="4800" dirty="0"/>
            </a:br>
            <a:br>
              <a:rPr lang="en-US" sz="4800" dirty="0"/>
            </a:br>
            <a:r>
              <a:rPr lang="en-US" sz="2800" dirty="0" err="1"/>
              <a:t>AIKm</a:t>
            </a:r>
            <a:br>
              <a:rPr lang="en-US" sz="3600" dirty="0"/>
            </a:br>
            <a:br>
              <a:rPr lang="en-US" sz="3600" dirty="0"/>
            </a:br>
            <a:r>
              <a:rPr lang="en-US" sz="2400" dirty="0"/>
              <a:t>Fred Wong, eFusion Capital</a:t>
            </a:r>
            <a:endParaRPr lang="en-GB" sz="4800" dirty="0"/>
          </a:p>
        </p:txBody>
      </p:sp>
      <p:pic>
        <p:nvPicPr>
          <p:cNvPr id="7" name="圖片 6" descr="一張含有 文字, 美工圖案 的圖片&#10;&#10;自動產生的描述">
            <a:extLst>
              <a:ext uri="{FF2B5EF4-FFF2-40B4-BE49-F238E27FC236}">
                <a16:creationId xmlns:a16="http://schemas.microsoft.com/office/drawing/2014/main" id="{5E37B12E-3958-D6B6-A3A7-3EFC752EA0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7494" y="0"/>
            <a:ext cx="2084505" cy="977521"/>
          </a:xfrm>
          <a:prstGeom prst="rect">
            <a:avLst/>
          </a:prstGeom>
        </p:spPr>
      </p:pic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5B4B933A-94EB-67F5-72A6-F61AFBF51DB7}"/>
              </a:ext>
            </a:extLst>
          </p:cNvPr>
          <p:cNvCxnSpPr>
            <a:cxnSpLocks/>
          </p:cNvCxnSpPr>
          <p:nvPr/>
        </p:nvCxnSpPr>
        <p:spPr>
          <a:xfrm>
            <a:off x="0" y="977521"/>
            <a:ext cx="12192000" cy="0"/>
          </a:xfrm>
          <a:prstGeom prst="line">
            <a:avLst/>
          </a:prstGeom>
          <a:ln w="38100">
            <a:solidFill>
              <a:srgbClr val="1C39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29D42438-8339-B625-5949-53FDB2FE2C76}"/>
              </a:ext>
            </a:extLst>
          </p:cNvPr>
          <p:cNvCxnSpPr>
            <a:cxnSpLocks/>
          </p:cNvCxnSpPr>
          <p:nvPr/>
        </p:nvCxnSpPr>
        <p:spPr>
          <a:xfrm>
            <a:off x="0" y="6403600"/>
            <a:ext cx="12192000" cy="0"/>
          </a:xfrm>
          <a:prstGeom prst="line">
            <a:avLst/>
          </a:prstGeom>
          <a:ln w="38100">
            <a:solidFill>
              <a:srgbClr val="1C39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投影片編號版面配置區 13">
            <a:extLst>
              <a:ext uri="{FF2B5EF4-FFF2-40B4-BE49-F238E27FC236}">
                <a16:creationId xmlns:a16="http://schemas.microsoft.com/office/drawing/2014/main" id="{CCF6E14D-E020-8B33-3571-0EB1BC285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52B6B-8ECC-4EC1-AD09-304F34236D0B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30628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D2E10-C64C-4654-941E-3FAB84A4E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Who are we?</a:t>
            </a:r>
            <a:endParaRPr lang="en-GB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690D0-FAE0-49D5-AB4D-C4B4F9EBD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946" y="1243838"/>
            <a:ext cx="11815618" cy="4708554"/>
          </a:xfrm>
        </p:spPr>
        <p:txBody>
          <a:bodyPr>
            <a:noAutofit/>
          </a:bodyPr>
          <a:lstStyle/>
          <a:p>
            <a:pPr>
              <a:lnSpc>
                <a:spcPct val="250000"/>
              </a:lnSpc>
            </a:pPr>
            <a:r>
              <a:rPr lang="en-US" altLang="zh-TW" sz="1800" dirty="0"/>
              <a:t>Technology boutique asset management firm</a:t>
            </a:r>
          </a:p>
          <a:p>
            <a:pPr>
              <a:lnSpc>
                <a:spcPct val="250000"/>
              </a:lnSpc>
            </a:pPr>
            <a:r>
              <a:rPr lang="en-US" altLang="zh-TW" sz="1800" dirty="0"/>
              <a:t>Specializing in global tech-hardware (e.g. semi-conductor) and tech-software (e.g. AI) sectors</a:t>
            </a:r>
            <a:r>
              <a:rPr lang="zh-TW" altLang="en-US" sz="1800" dirty="0"/>
              <a:t>
</a:t>
            </a:r>
            <a:r>
              <a:rPr lang="en-US" altLang="zh-TW" sz="1800" dirty="0"/>
              <a:t>Asset management via discretionary managed account structure</a:t>
            </a:r>
          </a:p>
          <a:p>
            <a:pPr>
              <a:lnSpc>
                <a:spcPct val="250000"/>
              </a:lnSpc>
            </a:pPr>
            <a:r>
              <a:rPr lang="en-US" altLang="zh-TW" sz="1800" dirty="0"/>
              <a:t>Capital introduction services for technology start-ups; deal sourcing for VC, PE, and family offices</a:t>
            </a:r>
          </a:p>
          <a:p>
            <a:pPr>
              <a:lnSpc>
                <a:spcPct val="250000"/>
              </a:lnSpc>
            </a:pPr>
            <a:r>
              <a:rPr lang="en-US" altLang="zh-TW" sz="1800" dirty="0"/>
              <a:t>AI transformation management consulting, education</a:t>
            </a:r>
          </a:p>
          <a:p>
            <a:pPr>
              <a:lnSpc>
                <a:spcPct val="250000"/>
              </a:lnSpc>
            </a:pPr>
            <a:r>
              <a:rPr lang="en-US" altLang="zh-TW" sz="1800" dirty="0"/>
              <a:t>Established in 2014, with 11 years of history</a:t>
            </a:r>
            <a:endParaRPr lang="en-GB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D206C-7309-4630-A4E2-A7C377FB1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52B6B-8ECC-4EC1-AD09-304F34236D0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4699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7BB5DF-D349-D136-8C17-FDAF2CC22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200" dirty="0"/>
              <a:t>Fund Manager :</a:t>
            </a:r>
            <a:r>
              <a:rPr lang="zh-CN" altLang="en-US" sz="3200" dirty="0"/>
              <a:t> </a:t>
            </a:r>
            <a:r>
              <a:rPr lang="en-GB" altLang="zh-CN" sz="3200" dirty="0"/>
              <a:t>Fred Wong, CFA</a:t>
            </a:r>
            <a:endParaRPr lang="en-GB" sz="32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4A18F8-62F7-91D2-4FB2-A8A954A2B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52B6B-8ECC-4EC1-AD09-304F34236D0B}" type="slidenum">
              <a:rPr lang="en-GB" smtClean="0"/>
              <a:t>3</a:t>
            </a:fld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C7891A-9AF3-4A49-B3B1-18E9AFC0F458}"/>
              </a:ext>
            </a:extLst>
          </p:cNvPr>
          <p:cNvSpPr/>
          <p:nvPr/>
        </p:nvSpPr>
        <p:spPr>
          <a:xfrm>
            <a:off x="5358674" y="1288449"/>
            <a:ext cx="6833326" cy="34633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TW" sz="16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Industry experience: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10 years of semiconductor industry (e.g. UMC/ Novatek/ Realtek) management experience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 err="1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B.Eng</a:t>
            </a:r>
            <a:r>
              <a:rPr lang="en-US" altLang="zh-TW" sz="16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, HKU</a:t>
            </a:r>
            <a:endParaRPr lang="en-US" altLang="zh-TW" sz="16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200000"/>
              </a:lnSpc>
            </a:pPr>
            <a:r>
              <a:rPr lang="en-US" altLang="zh-TW" sz="16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Finance: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20 years of equity research/fund management experience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2009 Thomson Reuters </a:t>
            </a:r>
            <a:r>
              <a:rPr lang="en-US" altLang="zh-TW" sz="1600" dirty="0" err="1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Starmine</a:t>
            </a:r>
            <a:r>
              <a:rPr lang="en-US" altLang="zh-TW" sz="16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 IT industry #1 Analyst</a:t>
            </a:r>
            <a:endParaRPr lang="en-GB" sz="1600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2B69BF56-1556-4BCD-8935-4772597C339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4943" y="4705313"/>
            <a:ext cx="2035932" cy="509128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C0812F9B-F43B-49A1-8AEE-54B5CC0A718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98399" y="5288948"/>
            <a:ext cx="1963420" cy="828039"/>
          </a:xfrm>
          <a:prstGeom prst="rect">
            <a:avLst/>
          </a:prstGeom>
        </p:spPr>
      </p:pic>
      <p:pic>
        <p:nvPicPr>
          <p:cNvPr id="8" name="object 5">
            <a:extLst>
              <a:ext uri="{FF2B5EF4-FFF2-40B4-BE49-F238E27FC236}">
                <a16:creationId xmlns:a16="http://schemas.microsoft.com/office/drawing/2014/main" id="{E5834CC7-D5D8-496E-B6A0-D49C353FCD4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5270" y="5415948"/>
            <a:ext cx="2153695" cy="593969"/>
          </a:xfrm>
          <a:prstGeom prst="rect">
            <a:avLst/>
          </a:prstGeom>
        </p:spPr>
      </p:pic>
      <p:pic>
        <p:nvPicPr>
          <p:cNvPr id="9" name="object 6">
            <a:extLst>
              <a:ext uri="{FF2B5EF4-FFF2-40B4-BE49-F238E27FC236}">
                <a16:creationId xmlns:a16="http://schemas.microsoft.com/office/drawing/2014/main" id="{D9EC3241-C830-4652-AD0F-48D60D5442E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79119" y="4006248"/>
            <a:ext cx="1287780" cy="355600"/>
          </a:xfrm>
          <a:prstGeom prst="rect">
            <a:avLst/>
          </a:prstGeom>
        </p:spPr>
      </p:pic>
      <p:pic>
        <p:nvPicPr>
          <p:cNvPr id="10" name="object 7">
            <a:extLst>
              <a:ext uri="{FF2B5EF4-FFF2-40B4-BE49-F238E27FC236}">
                <a16:creationId xmlns:a16="http://schemas.microsoft.com/office/drawing/2014/main" id="{6ABD00F3-4E58-4A44-B81C-92FED4CA090A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1938" y="4006248"/>
            <a:ext cx="1295400" cy="396239"/>
          </a:xfrm>
          <a:prstGeom prst="rect">
            <a:avLst/>
          </a:prstGeom>
        </p:spPr>
      </p:pic>
      <p:pic>
        <p:nvPicPr>
          <p:cNvPr id="11" name="object 9">
            <a:extLst>
              <a:ext uri="{FF2B5EF4-FFF2-40B4-BE49-F238E27FC236}">
                <a16:creationId xmlns:a16="http://schemas.microsoft.com/office/drawing/2014/main" id="{30CB0177-9262-4073-8A35-D2A8E1CD874C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02546" y="4065798"/>
            <a:ext cx="1197091" cy="259644"/>
          </a:xfrm>
          <a:prstGeom prst="rect">
            <a:avLst/>
          </a:prstGeom>
        </p:spPr>
      </p:pic>
      <p:pic>
        <p:nvPicPr>
          <p:cNvPr id="12" name="object 10">
            <a:extLst>
              <a:ext uri="{FF2B5EF4-FFF2-40B4-BE49-F238E27FC236}">
                <a16:creationId xmlns:a16="http://schemas.microsoft.com/office/drawing/2014/main" id="{33630468-02BF-4643-B824-82B8AE3CC4D1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33479" y="1288449"/>
            <a:ext cx="2164079" cy="2461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006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42B07-C5D3-4761-A546-BC8E72285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3200" dirty="0"/>
              <a:t>Portfolio manager: Isaac Wong</a:t>
            </a:r>
            <a:endParaRPr lang="en-GB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0B069C-8CF2-418B-B481-4B7A3A0C2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52B6B-8ECC-4EC1-AD09-304F34236D0B}" type="slidenum">
              <a:rPr lang="en-GB" smtClean="0"/>
              <a:t>4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895E68-5E1E-46EB-BE90-FD70F790C5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238" y="1218943"/>
            <a:ext cx="2915830" cy="27226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30B5226-E201-4838-A993-35A9D67B9E5F}"/>
              </a:ext>
            </a:extLst>
          </p:cNvPr>
          <p:cNvSpPr txBox="1"/>
          <p:nvPr/>
        </p:nvSpPr>
        <p:spPr>
          <a:xfrm>
            <a:off x="5274748" y="1289069"/>
            <a:ext cx="6671704" cy="3063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Federation of Hong Kong Industries </a:t>
            </a:r>
            <a:r>
              <a:rPr lang="en-US" altLang="zh-TW" sz="1600" dirty="0" err="1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ExCo</a:t>
            </a:r>
            <a:r>
              <a:rPr lang="zh-TW" altLang="en-US" sz="16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
</a:t>
            </a:r>
            <a:r>
              <a:rPr lang="en-US" altLang="zh-TW" sz="16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International Association of Chinese Traders Exco</a:t>
            </a:r>
            <a:r>
              <a:rPr lang="zh-TW" altLang="en-US" sz="16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
</a:t>
            </a:r>
            <a:r>
              <a:rPr lang="en-US" altLang="zh-TW" sz="16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Bachelor of Finance, HKU</a:t>
            </a:r>
            <a:r>
              <a:rPr lang="zh-TW" altLang="en-US" sz="16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
</a:t>
            </a:r>
            <a:r>
              <a:rPr lang="en-US" altLang="zh-TW" sz="16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Responsible for managing discretionary accounts</a:t>
            </a:r>
            <a:r>
              <a:rPr lang="zh-TW" altLang="en-US" sz="16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
</a:t>
            </a:r>
            <a:r>
              <a:rPr lang="en-US" altLang="zh-TW" sz="16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5 years of research/portfolio management experience</a:t>
            </a:r>
            <a:endParaRPr lang="en-GB" sz="1600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</p:txBody>
      </p:sp>
      <p:pic>
        <p:nvPicPr>
          <p:cNvPr id="1026" name="Picture 2" descr="Federation of Hong Kong Industries 香港工業總會">
            <a:extLst>
              <a:ext uri="{FF2B5EF4-FFF2-40B4-BE49-F238E27FC236}">
                <a16:creationId xmlns:a16="http://schemas.microsoft.com/office/drawing/2014/main" id="{FEC8433C-5264-4195-AF28-C8885FE2F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9719" y="4113320"/>
            <a:ext cx="1354015" cy="1354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object 4">
            <a:extLst>
              <a:ext uri="{FF2B5EF4-FFF2-40B4-BE49-F238E27FC236}">
                <a16:creationId xmlns:a16="http://schemas.microsoft.com/office/drawing/2014/main" id="{D5A67B68-5497-4297-9834-D3E7E230FFE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8898" y="4460070"/>
            <a:ext cx="1602935" cy="660516"/>
          </a:xfrm>
          <a:prstGeom prst="rect">
            <a:avLst/>
          </a:prstGeom>
        </p:spPr>
      </p:pic>
      <p:pic>
        <p:nvPicPr>
          <p:cNvPr id="1028" name="Picture 4" descr="國際華商協進會">
            <a:extLst>
              <a:ext uri="{FF2B5EF4-FFF2-40B4-BE49-F238E27FC236}">
                <a16:creationId xmlns:a16="http://schemas.microsoft.com/office/drawing/2014/main" id="{3976F33E-F087-4929-858A-B91C8F002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709" y="5568931"/>
            <a:ext cx="3022889" cy="650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3958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47267-D49F-6610-B750-DFF2AD981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DCB64-3CED-A013-C273-DA14BA41A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3200" dirty="0"/>
              <a:t>Head of Capital Intro: Robin Yuen, CFA</a:t>
            </a:r>
            <a:endParaRPr lang="en-GB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11974-EF35-DFAA-1EBB-DE962941C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52B6B-8ECC-4EC1-AD09-304F34236D0B}" type="slidenum">
              <a:rPr lang="en-GB" smtClean="0"/>
              <a:t>5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1F34EB-674B-63D7-4794-5DDB13B269A8}"/>
              </a:ext>
            </a:extLst>
          </p:cNvPr>
          <p:cNvSpPr txBox="1"/>
          <p:nvPr/>
        </p:nvSpPr>
        <p:spPr>
          <a:xfrm>
            <a:off x="4547286" y="1289069"/>
            <a:ext cx="7399166" cy="2447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Leads capital introduction services for tech corporates </a:t>
            </a:r>
            <a:r>
              <a:rPr lang="zh-TW" altLang="en-US" sz="16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
</a:t>
            </a:r>
            <a:r>
              <a:rPr lang="en-US" altLang="zh-TW" sz="16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10+ years of equity research experience from </a:t>
            </a:r>
            <a:r>
              <a:rPr lang="en-US" sz="16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CLSA, Barclays, UOB, RHB</a:t>
            </a:r>
            <a:endParaRPr lang="en-GB" sz="1600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Sector expertise in consumer, industrials, TMT 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Bachelor of Science (Finance and Economics), NYU Stern 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9D9FFF4-5283-FC5F-992B-A1FA670F9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462" y="4246774"/>
            <a:ext cx="1885714" cy="77142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9F6EA11-4D54-FB67-A4CA-EF3154CB1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821" y="5139057"/>
            <a:ext cx="1645356" cy="70515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55706FE-7818-0AC9-B8D9-571DC4B84E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38" y="4342012"/>
            <a:ext cx="1695238" cy="58095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9F2DDB5-4389-0AF3-8577-5328FAFF18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6462" y="5139057"/>
            <a:ext cx="1793074" cy="395971"/>
          </a:xfrm>
          <a:prstGeom prst="rect">
            <a:avLst/>
          </a:prstGeom>
        </p:spPr>
      </p:pic>
      <p:pic>
        <p:nvPicPr>
          <p:cNvPr id="17" name="Picture 2" descr="profile image">
            <a:extLst>
              <a:ext uri="{FF2B5EF4-FFF2-40B4-BE49-F238E27FC236}">
                <a16:creationId xmlns:a16="http://schemas.microsoft.com/office/drawing/2014/main" id="{F6CF9B6F-0F5C-F78D-E0BA-A24595152F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437" y="1344631"/>
            <a:ext cx="2686050" cy="2686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7598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77658-ED76-2131-8679-2EF9E6476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30CE4-3BDE-9B24-E68C-335066D69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3200" dirty="0"/>
              <a:t>AI Researcher: Owen Wong</a:t>
            </a:r>
            <a:endParaRPr lang="en-GB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46A56A-2145-8782-366E-777A88BDB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52B6B-8ECC-4EC1-AD09-304F34236D0B}" type="slidenum">
              <a:rPr lang="en-GB" smtClean="0"/>
              <a:t>6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C58C55-D5D5-1CAC-CD33-B4DC9A0E1692}"/>
              </a:ext>
            </a:extLst>
          </p:cNvPr>
          <p:cNvSpPr txBox="1"/>
          <p:nvPr/>
        </p:nvSpPr>
        <p:spPr>
          <a:xfrm>
            <a:off x="2952925" y="1289069"/>
            <a:ext cx="8993527" cy="367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Lecturer of Artificial Intelligence course for Kaplan, private banks, institutional corporations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Entrepreneur in AI-powered start-up companies with funding from HK Science Park (HKSTP) and </a:t>
            </a:r>
            <a:r>
              <a:rPr lang="en-US" altLang="zh-TW" sz="1600" dirty="0" err="1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QianHai</a:t>
            </a:r>
            <a:r>
              <a:rPr lang="en-US" altLang="zh-TW" sz="16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 region.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HKET Columnist, guest speaker on RTHK/FUTU/</a:t>
            </a:r>
            <a:r>
              <a:rPr lang="en-US" altLang="zh-TW" sz="1600" dirty="0" err="1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WeBull</a:t>
            </a:r>
            <a:r>
              <a:rPr lang="en-US" altLang="zh-TW" sz="16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, etc. 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Responsible for AI Researches and building AI algorithms. </a:t>
            </a:r>
            <a:r>
              <a:rPr lang="zh-TW" altLang="en-US" sz="16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
</a:t>
            </a:r>
            <a:r>
              <a:rPr lang="en-GB" altLang="zh-TW" sz="16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Bachelor of Arts and Sciences in Applied Artificial Intelligence, HKU</a:t>
            </a:r>
            <a:endParaRPr lang="en-GB" sz="1600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</p:txBody>
      </p:sp>
      <p:pic>
        <p:nvPicPr>
          <p:cNvPr id="11" name="object 4">
            <a:extLst>
              <a:ext uri="{FF2B5EF4-FFF2-40B4-BE49-F238E27FC236}">
                <a16:creationId xmlns:a16="http://schemas.microsoft.com/office/drawing/2014/main" id="{6B01B63A-1FC7-8C0F-2EF5-E9FE808924D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6621" y="4064113"/>
            <a:ext cx="1602935" cy="66051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50589589-BA18-0953-3EF8-9990D87E66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944" y="1761426"/>
            <a:ext cx="2418290" cy="1907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391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2DA7F-476C-4C0A-821E-9DAC46F8C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200" dirty="0"/>
              <a:t>COO </a:t>
            </a:r>
            <a:r>
              <a:rPr lang="en-GB" altLang="zh-CN" sz="3200" dirty="0"/>
              <a:t>– </a:t>
            </a:r>
            <a:r>
              <a:rPr lang="en-US" altLang="zh-CN" sz="3200" dirty="0"/>
              <a:t>Cindy Chu, CFA</a:t>
            </a:r>
            <a:endParaRPr lang="en-GB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A14F7-BC7C-4E24-93F5-7F57B1ACF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8936" y="1612327"/>
            <a:ext cx="7975194" cy="439419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sz="1600" b="1" dirty="0"/>
              <a:t>Professional background:</a:t>
            </a:r>
          </a:p>
          <a:p>
            <a:pPr>
              <a:lnSpc>
                <a:spcPct val="150000"/>
              </a:lnSpc>
            </a:pPr>
            <a:r>
              <a:rPr lang="en-US" altLang="zh-TW" sz="1600" dirty="0"/>
              <a:t>15 years of equity research experience, serving at Merrill Lynch/FIL/Citigroup/JP Morgan/Morgan Stanley 
JP Morgan semiconductor industry analyst (</a:t>
            </a:r>
            <a:r>
              <a:rPr lang="zh-TW" altLang="en-US" sz="1600" dirty="0"/>
              <a:t> </a:t>
            </a:r>
            <a:r>
              <a:rPr lang="en-US" altLang="zh-TW" sz="1600" dirty="0"/>
              <a:t>II ranking #1 team) from 2002-2005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1600" b="1" dirty="0"/>
              <a:t>Academic background:</a:t>
            </a:r>
          </a:p>
          <a:p>
            <a:pPr>
              <a:lnSpc>
                <a:spcPct val="150000"/>
              </a:lnSpc>
            </a:pPr>
            <a:r>
              <a:rPr lang="en-US" altLang="zh-TW" sz="1600" dirty="0"/>
              <a:t>CFA, MBA HKUST, M Social Science HKU
BEng (Computer Engineering), CUHK</a:t>
            </a:r>
            <a:endParaRPr lang="en-GB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59339-C123-4AC6-84F1-07D01020C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52B6B-8ECC-4EC1-AD09-304F34236D0B}" type="slidenum">
              <a:rPr lang="en-GB" smtClean="0"/>
              <a:t>7</a:t>
            </a:fld>
            <a:endParaRPr lang="en-GB"/>
          </a:p>
        </p:txBody>
      </p:sp>
      <p:pic>
        <p:nvPicPr>
          <p:cNvPr id="8" name="object 8">
            <a:extLst>
              <a:ext uri="{FF2B5EF4-FFF2-40B4-BE49-F238E27FC236}">
                <a16:creationId xmlns:a16="http://schemas.microsoft.com/office/drawing/2014/main" id="{E4C2F412-D329-AB85-B911-D224D01E54D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8827" y="2528962"/>
            <a:ext cx="1260160" cy="422238"/>
          </a:xfrm>
          <a:prstGeom prst="rect">
            <a:avLst/>
          </a:prstGeom>
        </p:spPr>
      </p:pic>
      <p:pic>
        <p:nvPicPr>
          <p:cNvPr id="9" name="object 9">
            <a:extLst>
              <a:ext uri="{FF2B5EF4-FFF2-40B4-BE49-F238E27FC236}">
                <a16:creationId xmlns:a16="http://schemas.microsoft.com/office/drawing/2014/main" id="{E392259D-EADE-6D70-9F57-770BC831B22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00497" y="2447814"/>
            <a:ext cx="646145" cy="622368"/>
          </a:xfrm>
          <a:prstGeom prst="rect">
            <a:avLst/>
          </a:prstGeom>
        </p:spPr>
      </p:pic>
      <p:pic>
        <p:nvPicPr>
          <p:cNvPr id="11" name="object 10">
            <a:extLst>
              <a:ext uri="{FF2B5EF4-FFF2-40B4-BE49-F238E27FC236}">
                <a16:creationId xmlns:a16="http://schemas.microsoft.com/office/drawing/2014/main" id="{841DE032-1D4E-88B8-3675-0DE2BC61CCE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3520" y="3238751"/>
            <a:ext cx="1407581" cy="262578"/>
          </a:xfrm>
          <a:prstGeom prst="rect">
            <a:avLst/>
          </a:prstGeom>
        </p:spPr>
      </p:pic>
      <p:pic>
        <p:nvPicPr>
          <p:cNvPr id="12" name="Picture 4" descr="Morgan Stanley - Nonprofit Resource Hub">
            <a:extLst>
              <a:ext uri="{FF2B5EF4-FFF2-40B4-BE49-F238E27FC236}">
                <a16:creationId xmlns:a16="http://schemas.microsoft.com/office/drawing/2014/main" id="{B7FDCD70-C645-5962-8C29-E279113248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091" b="34744"/>
          <a:stretch/>
        </p:blipFill>
        <p:spPr bwMode="auto">
          <a:xfrm>
            <a:off x="1851101" y="3189164"/>
            <a:ext cx="1948935" cy="361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9926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2E10A-5C69-495E-806C-D7CBDE8D8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Wisdom from analyzing wisdom </a:t>
            </a:r>
            <a:r>
              <a:rPr lang="en-US" sz="3200" dirty="0" err="1"/>
              <a:t>direclty</a:t>
            </a:r>
            <a:endParaRPr lang="en-GB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408204-3560-40B7-B896-07CF6BD13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52B6B-8ECC-4EC1-AD09-304F34236D0B}" type="slidenum">
              <a:rPr lang="en-GB" smtClean="0"/>
              <a:t>8</a:t>
            </a:fld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3702B8-A53D-6FDC-075F-8D8C22A57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334" y="1499135"/>
            <a:ext cx="6603748" cy="2768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580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3F1FA-71E3-81C9-BB4A-18EE07FDF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Business model…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5B915-0B57-C541-8F04-6126D5990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382" y="2741191"/>
            <a:ext cx="9978351" cy="13756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/>
              <a:t>How to become an interesting guy?</a:t>
            </a:r>
            <a:endParaRPr lang="en-US" altLang="zh-TW" sz="4400" dirty="0"/>
          </a:p>
          <a:p>
            <a:endParaRPr lang="en-US" altLang="zh-TW" sz="4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E87A1-B8B3-494C-FD79-557B68A8D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52B6B-8ECC-4EC1-AD09-304F34236D0B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1444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BE811-4415-8BB4-4BF8-A9297CDCA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99398-8A13-FE8C-9852-E2BAE3694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 dimensions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AE62C-7C50-89CF-761E-45DA6C8DA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ASIC</a:t>
            </a:r>
            <a:endParaRPr lang="en-US" altLang="zh-TW" dirty="0"/>
          </a:p>
          <a:p>
            <a:pPr lvl="1"/>
            <a:r>
              <a:rPr lang="en-US" altLang="zh-TW" dirty="0"/>
              <a:t>L Chip, Faraday, GUC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ASSP</a:t>
            </a:r>
          </a:p>
          <a:p>
            <a:pPr lvl="1"/>
            <a:r>
              <a:rPr lang="en-US" altLang="zh-TW" dirty="0" err="1"/>
              <a:t>Mediatek</a:t>
            </a:r>
            <a:r>
              <a:rPr lang="en-US" altLang="zh-TW" dirty="0"/>
              <a:t>, Qualcomm, </a:t>
            </a:r>
            <a:r>
              <a:rPr lang="en-US" altLang="zh-TW" dirty="0" err="1"/>
              <a:t>Cambricon</a:t>
            </a:r>
            <a:r>
              <a:rPr lang="en-US" altLang="zh-TW" dirty="0"/>
              <a:t>, </a:t>
            </a:r>
            <a:r>
              <a:rPr lang="en-US" altLang="zh-TW" dirty="0" err="1"/>
              <a:t>HiSilicon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en-US" altLang="zh-TW" dirty="0"/>
              <a:t>GP</a:t>
            </a:r>
          </a:p>
          <a:p>
            <a:pPr lvl="1"/>
            <a:r>
              <a:rPr lang="en-US" altLang="zh-TW" dirty="0"/>
              <a:t>Intel, AMD, </a:t>
            </a:r>
            <a:r>
              <a:rPr lang="en-US" altLang="zh-TW" dirty="0" err="1"/>
              <a:t>nVidia</a:t>
            </a:r>
            <a:endParaRPr lang="en-US" altLang="zh-TW" dirty="0"/>
          </a:p>
          <a:p>
            <a:pPr marL="457200" lvl="1" indent="0">
              <a:buNone/>
            </a:pPr>
            <a:endParaRPr lang="en-US" altLang="zh-T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CE96AC-DCEC-6981-9887-852FA656D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52B6B-8ECC-4EC1-AD09-304F34236D0B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0960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9B4D2-F6BE-B4A6-7338-60A0A77EE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 dimensions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C0A34-3B1A-692B-6427-B8EFBDD5C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ASIC</a:t>
            </a:r>
            <a:endParaRPr lang="en-US" altLang="zh-TW" dirty="0"/>
          </a:p>
          <a:p>
            <a:pPr lvl="1"/>
            <a:r>
              <a:rPr lang="en-US" altLang="zh-TW" dirty="0"/>
              <a:t>Palantir, Accenture, </a:t>
            </a:r>
            <a:r>
              <a:rPr lang="en-US" altLang="zh-TW" dirty="0" err="1"/>
              <a:t>Sensetime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en-US" altLang="zh-TW" dirty="0"/>
              <a:t>ASSP</a:t>
            </a:r>
          </a:p>
          <a:p>
            <a:pPr lvl="1"/>
            <a:r>
              <a:rPr lang="en-US" altLang="zh-TW" dirty="0"/>
              <a:t>AutoCAD, Cadence, Synopsys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GP</a:t>
            </a:r>
          </a:p>
          <a:p>
            <a:pPr lvl="1"/>
            <a:r>
              <a:rPr lang="en-US" altLang="zh-TW" dirty="0"/>
              <a:t>SaaS Microsoft, Adobe, Oracle, SAP</a:t>
            </a:r>
          </a:p>
          <a:p>
            <a:pPr lvl="1"/>
            <a:r>
              <a:rPr lang="en-US" altLang="zh-TW" dirty="0"/>
              <a:t>PaaS IBM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04AC8-2E6A-3A8D-4A09-EE4907C0A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52B6B-8ECC-4EC1-AD09-304F34236D0B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1457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9444A-4BC8-21B6-5C27-9612ABF57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6643-7AB2-3A2D-987B-9C081C420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 dimensions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D638B-BA37-1A2D-2F42-FB75FC2EC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ASIC</a:t>
            </a:r>
            <a:endParaRPr lang="en-US" altLang="zh-TW" dirty="0"/>
          </a:p>
          <a:p>
            <a:pPr lvl="1"/>
            <a:r>
              <a:rPr lang="en-US" altLang="zh-TW" dirty="0"/>
              <a:t>L Chip, Faraday, GUC</a:t>
            </a:r>
          </a:p>
          <a:p>
            <a:pPr lvl="1"/>
            <a:r>
              <a:rPr lang="en-US" altLang="zh-TW" dirty="0"/>
              <a:t>Palantir, Accenture, </a:t>
            </a:r>
            <a:r>
              <a:rPr lang="en-US" altLang="zh-TW" dirty="0" err="1"/>
              <a:t>Sensetime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en-US" altLang="zh-TW" dirty="0"/>
              <a:t>ASSP</a:t>
            </a:r>
          </a:p>
          <a:p>
            <a:pPr lvl="1"/>
            <a:r>
              <a:rPr lang="en-US" altLang="zh-TW" dirty="0" err="1"/>
              <a:t>Mediatek</a:t>
            </a:r>
            <a:r>
              <a:rPr lang="en-US" altLang="zh-TW" dirty="0"/>
              <a:t>, Qualcomm, </a:t>
            </a:r>
            <a:r>
              <a:rPr lang="en-US" altLang="zh-TW" dirty="0" err="1"/>
              <a:t>Cambricon</a:t>
            </a:r>
            <a:r>
              <a:rPr lang="en-US" altLang="zh-TW" dirty="0"/>
              <a:t>, </a:t>
            </a:r>
            <a:r>
              <a:rPr lang="en-US" altLang="zh-TW" dirty="0" err="1"/>
              <a:t>HiSilicon</a:t>
            </a:r>
            <a:endParaRPr lang="en-US" altLang="zh-TW" dirty="0"/>
          </a:p>
          <a:p>
            <a:pPr lvl="1"/>
            <a:r>
              <a:rPr lang="en-US" altLang="zh-TW" dirty="0"/>
              <a:t>AutoCAD, Cadence, Synopsys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GP</a:t>
            </a:r>
          </a:p>
          <a:p>
            <a:pPr lvl="1"/>
            <a:r>
              <a:rPr lang="en-US" altLang="zh-TW" dirty="0"/>
              <a:t>Intel, AMD, </a:t>
            </a:r>
            <a:r>
              <a:rPr lang="en-US" altLang="zh-TW" dirty="0" err="1"/>
              <a:t>nVidia</a:t>
            </a:r>
            <a:endParaRPr lang="en-US" altLang="zh-TW" dirty="0"/>
          </a:p>
          <a:p>
            <a:pPr lvl="1"/>
            <a:r>
              <a:rPr lang="en-US" altLang="zh-TW" dirty="0"/>
              <a:t>SaaS Microsoft, Adobe, Oracle, SAP</a:t>
            </a:r>
          </a:p>
          <a:p>
            <a:pPr lvl="1"/>
            <a:r>
              <a:rPr lang="en-US" altLang="zh-TW" dirty="0"/>
              <a:t>PaaS IBM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8A96CC-4238-273D-EBED-F574DBB1E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52B6B-8ECC-4EC1-AD09-304F34236D0B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2255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8E2E7-F4FE-B085-BEEB-9EEEFFBCB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B or To C?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8E3A0-0A83-AF9E-E922-67DCB6253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Semiconductor all to</a:t>
            </a:r>
            <a:r>
              <a:rPr lang="zh-TW" altLang="en-US" dirty="0"/>
              <a:t>Ｂ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FC8EC-16C1-2F15-6523-C96827457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52B6B-8ECC-4EC1-AD09-304F34236D0B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39619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C5E60-B353-9AB4-961C-3C86E18F3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Dimension expansion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FE63B-9AA0-6E9D-3075-F7557336A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More-few dimensional</a:t>
            </a:r>
          </a:p>
          <a:p>
            <a:endParaRPr lang="en-US" dirty="0"/>
          </a:p>
          <a:p>
            <a:r>
              <a:rPr lang="en-US" dirty="0"/>
              <a:t>High-low dimension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BECBAD-B00C-C6AD-72BD-0E7C478E0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52B6B-8ECC-4EC1-AD09-304F34236D0B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17929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59C85-74FD-DC3E-EAF0-51C357BE6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creativity?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51A90-1224-616F-54C4-03E31EF24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382" y="2187574"/>
            <a:ext cx="11815618" cy="3552826"/>
          </a:xfrm>
        </p:spPr>
        <p:txBody>
          <a:bodyPr/>
          <a:lstStyle/>
          <a:p>
            <a:r>
              <a:rPr lang="en-US" dirty="0"/>
              <a:t>Degree of Freedom (</a:t>
            </a:r>
            <a:r>
              <a:rPr lang="en-US" dirty="0" err="1"/>
              <a:t>DoF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Dimensions switching, eyeballs reflecting</a:t>
            </a:r>
          </a:p>
          <a:p>
            <a:pPr lvl="1"/>
            <a:r>
              <a:rPr lang="en-US" dirty="0"/>
              <a:t>Convergence or Divergence (pupil dilate)</a:t>
            </a:r>
          </a:p>
          <a:p>
            <a:pPr lvl="1"/>
            <a:r>
              <a:rPr lang="en-US" dirty="0"/>
              <a:t>Turn several corners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1B43B2-D0A5-DEF4-6C80-E754E9A13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52B6B-8ECC-4EC1-AD09-304F34236D0B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8419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65C3D-7F4B-3AF3-44C1-A79204D9D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by step?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C76DA-08F4-7E26-30DF-8FF78F3B0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Boundary VS Borderless</a:t>
            </a:r>
          </a:p>
          <a:p>
            <a:endParaRPr lang="en-US" dirty="0"/>
          </a:p>
          <a:p>
            <a:r>
              <a:rPr lang="en-US" dirty="0"/>
              <a:t>Think inwards VS outwards (enlarge)</a:t>
            </a:r>
          </a:p>
          <a:p>
            <a:endParaRPr lang="en-US" dirty="0"/>
          </a:p>
          <a:p>
            <a:r>
              <a:rPr lang="en-US" dirty="0"/>
              <a:t>0 to 1  vs  1 to 10000</a:t>
            </a:r>
          </a:p>
          <a:p>
            <a:endParaRPr lang="en-US" dirty="0"/>
          </a:p>
          <a:p>
            <a:r>
              <a:rPr lang="en-US" dirty="0"/>
              <a:t>Metaphor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E1072F-C368-95A2-50D0-A94F866BB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52B6B-8ECC-4EC1-AD09-304F34236D0B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12359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1B1DA-E919-330B-CA1F-3C040ADCB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Book 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D3138-931A-6D57-276F-EE76E4633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Look inwards, put down ego</a:t>
            </a:r>
          </a:p>
          <a:p>
            <a:endParaRPr lang="en-US" dirty="0"/>
          </a:p>
          <a:p>
            <a:r>
              <a:rPr lang="en-US" dirty="0"/>
              <a:t>Kant, Schopenhauer, Q</a:t>
            </a:r>
          </a:p>
          <a:p>
            <a:endParaRPr lang="en-US" dirty="0"/>
          </a:p>
          <a:p>
            <a:r>
              <a:rPr lang="en-US" dirty="0"/>
              <a:t>ABO – Training of generalization, from ASIC to GP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3B96A2-C5F6-B050-7F0B-29BD90560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52B6B-8ECC-4EC1-AD09-304F34236D0B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48905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E7A4B-9E35-DDC9-06CE-393D54B11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Outliner vs </a:t>
            </a:r>
            <a:r>
              <a:rPr lang="en-US" dirty="0" err="1"/>
              <a:t>Inliner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0A2CA-1156-CA60-14CE-A96D4059A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Metronome VS Tuning Fork</a:t>
            </a:r>
          </a:p>
          <a:p>
            <a:endParaRPr lang="en-US" dirty="0"/>
          </a:p>
          <a:p>
            <a:r>
              <a:rPr lang="en-US" dirty="0"/>
              <a:t>Synchronization</a:t>
            </a:r>
          </a:p>
          <a:p>
            <a:endParaRPr lang="en-US" dirty="0"/>
          </a:p>
          <a:p>
            <a:r>
              <a:rPr lang="en-US" dirty="0"/>
              <a:t>Frequency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2B22A0-1E16-FB77-BA61-C4C1E1897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52B6B-8ECC-4EC1-AD09-304F34236D0B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15758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71BC3C-0F25-6EBE-EC98-87C1B8EA1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52B6B-8ECC-4EC1-AD09-304F34236D0B}" type="slidenum">
              <a:rPr lang="en-GB" smtClean="0"/>
              <a:t>19</a:t>
            </a:fld>
            <a:endParaRPr lang="en-GB"/>
          </a:p>
        </p:txBody>
      </p:sp>
      <p:pic>
        <p:nvPicPr>
          <p:cNvPr id="10" name="Content Placeholder 9" descr="A newspaper with a picture of a house">
            <a:extLst>
              <a:ext uri="{FF2B5EF4-FFF2-40B4-BE49-F238E27FC236}">
                <a16:creationId xmlns:a16="http://schemas.microsoft.com/office/drawing/2014/main" id="{E7F9FFD1-EA81-629C-C27F-EC1A3DD56F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7694" y="-1"/>
            <a:ext cx="9463177" cy="6847519"/>
          </a:xfrm>
        </p:spPr>
      </p:pic>
    </p:spTree>
    <p:extLst>
      <p:ext uri="{BB962C8B-B14F-4D97-AF65-F5344CB8AC3E}">
        <p14:creationId xmlns:p14="http://schemas.microsoft.com/office/powerpoint/2010/main" val="42442950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4E027-FA4C-984F-862C-F61C7FA2A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 more thing…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6D17D-BB6F-5387-99A5-A8D4B3DD3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5400" dirty="0"/>
              <a:t>	</a:t>
            </a:r>
          </a:p>
          <a:p>
            <a:pPr marL="0" indent="0">
              <a:buNone/>
            </a:pPr>
            <a:r>
              <a:rPr lang="en-US" sz="5400" dirty="0"/>
              <a:t>	930, 76, 828</a:t>
            </a:r>
          </a:p>
          <a:p>
            <a:pPr marL="0" indent="0">
              <a:buNone/>
            </a:pPr>
            <a:endParaRPr lang="en-US" sz="5400" dirty="0"/>
          </a:p>
          <a:p>
            <a:pPr marL="0" indent="0">
              <a:buNone/>
            </a:pPr>
            <a:r>
              <a:rPr lang="en-US" sz="5400" dirty="0"/>
              <a:t>	</a:t>
            </a:r>
            <a:r>
              <a:rPr lang="en-US" sz="5400" dirty="0" err="1"/>
              <a:t>fredfreww</a:t>
            </a:r>
            <a:endParaRPr lang="en-US" sz="5400" dirty="0"/>
          </a:p>
          <a:p>
            <a:pPr marL="0" indent="0">
              <a:buNone/>
            </a:pPr>
            <a:endParaRPr lang="en-US" sz="5400" dirty="0"/>
          </a:p>
          <a:p>
            <a:pPr marL="0" indent="0">
              <a:buNone/>
            </a:pPr>
            <a:r>
              <a:rPr lang="en-US" sz="5400" dirty="0"/>
              <a:t>		</a:t>
            </a:r>
            <a:r>
              <a:rPr lang="en-US" sz="5400" dirty="0" err="1"/>
              <a:t>Youtube</a:t>
            </a:r>
            <a:r>
              <a:rPr lang="en-US" sz="5400" dirty="0"/>
              <a:t>, HKEJ</a:t>
            </a:r>
          </a:p>
          <a:p>
            <a:endParaRPr lang="en-US" sz="5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44679-D6FD-EC58-C944-E3CEEC899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52B6B-8ECC-4EC1-AD09-304F34236D0B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3332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Fusion standard template" id="{7DF0194F-88AE-42D8-A0D1-DEAC24541BF7}" vid="{5969A51F-FDB5-421C-BD83-4F5EF344D382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eFusion standard template</Template>
  <TotalTime>6692</TotalTime>
  <Words>602</Words>
  <Application>Microsoft Office PowerPoint</Application>
  <PresentationFormat>Widescreen</PresentationFormat>
  <Paragraphs>124</Paragraphs>
  <Slides>20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Microsoft JhengHei Light</vt:lpstr>
      <vt:lpstr>Arial</vt:lpstr>
      <vt:lpstr>Calibri</vt:lpstr>
      <vt:lpstr>Office 佈景主題</vt:lpstr>
      <vt:lpstr>Business Model – AI company  AIKm  Fred Wong, eFusion Capital</vt:lpstr>
      <vt:lpstr>Who are we?</vt:lpstr>
      <vt:lpstr>Fund Manager : Fred Wong, CFA</vt:lpstr>
      <vt:lpstr>Portfolio manager: Isaac Wong</vt:lpstr>
      <vt:lpstr>Head of Capital Intro: Robin Yuen, CFA</vt:lpstr>
      <vt:lpstr>AI Researcher: Owen Wong</vt:lpstr>
      <vt:lpstr>COO – Cindy Chu, CFA</vt:lpstr>
      <vt:lpstr>Wisdom from analyzing wisdom direclty</vt:lpstr>
      <vt:lpstr>Business model…</vt:lpstr>
      <vt:lpstr>3 dimensions</vt:lpstr>
      <vt:lpstr>3 dimensions</vt:lpstr>
      <vt:lpstr>3 dimensions</vt:lpstr>
      <vt:lpstr> B or To C? </vt:lpstr>
      <vt:lpstr>Dimension expansion</vt:lpstr>
      <vt:lpstr>What is creativity?</vt:lpstr>
      <vt:lpstr>Step by step?</vt:lpstr>
      <vt:lpstr>Book recommendation</vt:lpstr>
      <vt:lpstr>Outliner vs Inliner</vt:lpstr>
      <vt:lpstr>PowerPoint Presentation</vt:lpstr>
      <vt:lpstr>1 more thing…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eFusion Isaac Wong</dc:creator>
  <cp:lastModifiedBy>hosonlam</cp:lastModifiedBy>
  <cp:revision>40</cp:revision>
  <dcterms:created xsi:type="dcterms:W3CDTF">2024-12-20T05:12:37Z</dcterms:created>
  <dcterms:modified xsi:type="dcterms:W3CDTF">2025-06-26T06:03:00Z</dcterms:modified>
</cp:coreProperties>
</file>